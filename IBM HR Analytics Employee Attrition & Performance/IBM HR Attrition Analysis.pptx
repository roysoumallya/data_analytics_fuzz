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Inter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3FA821-378B-40C8-B468-6C146F8F7228}">
  <a:tblStyle styleId="{253FA821-378B-40C8-B468-6C146F8F722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Poppins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bold.fntdata"/><Relationship Id="rId30" Type="http://schemas.openxmlformats.org/officeDocument/2006/relationships/font" Target="fonts/InterMedium-regular.fntdata"/><Relationship Id="rId11" Type="http://schemas.openxmlformats.org/officeDocument/2006/relationships/slide" Target="slides/slide5.xml"/><Relationship Id="rId33" Type="http://schemas.openxmlformats.org/officeDocument/2006/relationships/font" Target="fonts/Inter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Medium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1682"/>
            <a:ext cx="11049000" cy="375463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05376" y="2323207"/>
            <a:ext cx="9981247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IBM HR Analytics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43025" y="3220342"/>
            <a:ext cx="9505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Employee Attrition &amp; Performance Analysis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43025" y="4058542"/>
            <a:ext cx="9505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Updated Insight Report for Executive Leadership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6012"/>
            <a:ext cx="5286375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86012"/>
            <a:ext cx="5286375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14400" y="3386137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Financial Impact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14400" y="4062412"/>
            <a:ext cx="46005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total attrition cost has reached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$34.5M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highlighting a critical need for cost-mitigation through retention.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77025" y="3386137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Key Drivers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77025" y="4062412"/>
            <a:ext cx="46005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Recent data indicates that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overtime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early-tenure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(0-2 years) are the most significant behavioral predictors of churn.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7670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276701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800100" y="571500"/>
            <a:ext cx="97612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Executive Summary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19550"/>
            <a:ext cx="1104900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" y="2333625"/>
            <a:ext cx="2538412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7750" y="2333625"/>
            <a:ext cx="2576512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09500" y="2333625"/>
            <a:ext cx="2538412" cy="13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14400" y="4591050"/>
            <a:ext cx="1036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Average Tenure:</a:t>
            </a: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Stayed: 7.37 Years | Exited: 5.13 Years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064925" y="2590800"/>
            <a:ext cx="2062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237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367344" y="3190875"/>
            <a:ext cx="14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TOTAL ATTRITION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00100" y="571500"/>
            <a:ext cx="97612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Key Dashboard Performance Indicators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335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2928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"Every exit carries a significant replacement, training, and opportunity cost."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2366962"/>
            <a:ext cx="5286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TOTAL ATTRITION COST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2938462"/>
            <a:ext cx="52863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F43F5E"/>
                </a:solidFill>
                <a:latin typeface="Poppins"/>
                <a:ea typeface="Poppins"/>
                <a:cs typeface="Poppins"/>
                <a:sym typeface="Poppins"/>
              </a:rPr>
              <a:t>$</a:t>
            </a:r>
            <a:r>
              <a:rPr b="1" lang="en-US" sz="10500">
                <a:solidFill>
                  <a:srgbClr val="F43F5E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r>
              <a:rPr b="1" i="0" lang="en-US" sz="10500" u="none" cap="none" strike="noStrike">
                <a:solidFill>
                  <a:srgbClr val="F43F5E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b="1" lang="en-US" sz="10500">
                <a:solidFill>
                  <a:srgbClr val="F43F5E"/>
                </a:solidFill>
                <a:latin typeface="Poppins"/>
                <a:ea typeface="Poppins"/>
                <a:cs typeface="Poppins"/>
                <a:sym typeface="Poppins"/>
              </a:rPr>
              <a:t>31</a:t>
            </a:r>
            <a:r>
              <a:rPr b="1" i="0" lang="en-US" sz="10500" u="none" cap="none" strike="noStrike">
                <a:solidFill>
                  <a:srgbClr val="F43F5E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6430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800100" y="571500"/>
            <a:ext cx="97612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Financial Burden of Attrition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9687" y="2252662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9812" y="3738562"/>
            <a:ext cx="476250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2143125" y="3086100"/>
            <a:ext cx="1666875" cy="1666875"/>
          </a:xfrm>
          <a:prstGeom prst="roundRect">
            <a:avLst>
              <a:gd fmla="val 2857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6119812" y="2176462"/>
            <a:ext cx="50006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Attrition by Overtime Status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2243075" y="3688675"/>
            <a:ext cx="146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20.13</a:t>
            </a:r>
            <a:r>
              <a:rPr b="1" i="0" lang="en-US" sz="3000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sz="800"/>
          </a:p>
        </p:txBody>
      </p:sp>
      <p:sp>
        <p:nvSpPr>
          <p:cNvPr id="140" name="Google Shape;140;p17"/>
          <p:cNvSpPr txBox="1"/>
          <p:nvPr/>
        </p:nvSpPr>
        <p:spPr>
          <a:xfrm>
            <a:off x="2243087" y="4207250"/>
            <a:ext cx="14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Difference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548437" y="2643187"/>
            <a:ext cx="433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Yes: </a:t>
            </a:r>
            <a:r>
              <a:rPr b="1"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30.53% of Total Employees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548437" y="3167062"/>
            <a:ext cx="433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No: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10.44% of Total Employees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500812" y="4271962"/>
            <a:ext cx="4038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Overtime exposure is a leading indicator of burnout and eventual separation within the organization.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00100" y="571500"/>
            <a:ext cx="97612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Overtime: A Major Behavioral Driver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9812" y="26431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19812" y="316706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71500" y="482441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Critical Insight: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The first 24 months remain the most vulnerable period. Retention focus must be front-loaded.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00100" y="571500"/>
            <a:ext cx="97612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Attrition Concentration by Tenure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2650"/>
            <a:ext cx="49530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86200"/>
            <a:ext cx="49530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3257550"/>
            <a:ext cx="42672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4991100"/>
            <a:ext cx="42672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800100" y="571500"/>
            <a:ext cx="496062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Distance &amp; Commute Impact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71500" y="571500"/>
            <a:ext cx="57150" cy="1200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8" name="Google Shape;16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571500" y="5810250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Geographic proximity continues to play a role in retention, with longer commutes increasing exit likelihood.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914400" y="2686050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Long-Distance (&gt;15 miles):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20.67% Attrition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914400" y="4419600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Mid-Distance (7-15 miles):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17.49% Attrition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914400" y="3257550"/>
            <a:ext cx="881955" cy="95250"/>
          </a:xfrm>
          <a:prstGeom prst="roundRect">
            <a:avLst>
              <a:gd fmla="val 50000" name="adj"/>
            </a:avLst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914400" y="4991100"/>
            <a:ext cx="746224" cy="9525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4100"/>
            <a:ext cx="5286375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24100"/>
            <a:ext cx="5286375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914400" y="2714625"/>
            <a:ext cx="460057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81%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914400" y="3448050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Low Income Cohort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914400" y="4124325"/>
            <a:ext cx="46005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overwhelming majority of leavers belong to the low-income segment, suggesting a critical gap in compensation competitiveness.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677025" y="2667000"/>
            <a:ext cx="460057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4%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677025" y="3400425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High Income Cohort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677025" y="4076700"/>
            <a:ext cx="46005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Higher compensation levels act as a significant stabilizing force, with minimal attrition observed among top earners.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00100" y="571500"/>
            <a:ext cx="97612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Income Sensitivity Analysis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4" name="Google Shape;194;p21"/>
          <p:cNvGraphicFramePr/>
          <p:nvPr/>
        </p:nvGraphicFramePr>
        <p:xfrm>
          <a:off x="571500" y="2405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{253FA821-378B-40C8-B468-6C146F8F7228}</a:tableStyleId>
              </a:tblPr>
              <a:tblGrid>
                <a:gridCol w="4415725"/>
                <a:gridCol w="3856425"/>
                <a:gridCol w="2776825"/>
              </a:tblGrid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Department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Attrition Contribution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Attrition Level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Research &amp; Development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43F5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56.12%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Critical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25400" marB="25400" marR="63500" marL="22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Sales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43F5E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38.82%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43F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 b="1">
                        <a:solidFill>
                          <a:srgbClr val="F43F5E"/>
                        </a:solidFill>
                      </a:endParaRPr>
                    </a:p>
                  </a:txBody>
                  <a:tcPr marT="25400" marB="25400" marR="63500" marL="22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Human Resources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5.06%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Stable</a:t>
                      </a:r>
                      <a:endParaRPr b="1">
                        <a:solidFill>
                          <a:srgbClr val="10B981"/>
                        </a:solidFill>
                      </a:endParaRPr>
                    </a:p>
                  </a:txBody>
                  <a:tcPr marT="25400" marB="25400" marR="63500" marL="2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5" name="Google Shape;195;p21"/>
          <p:cNvSpPr txBox="1"/>
          <p:nvPr/>
        </p:nvSpPr>
        <p:spPr>
          <a:xfrm>
            <a:off x="571500" y="500538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R&amp;D and Sales departments remain the primary areas requiring strategic intervention.</a:t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571500" y="3543300"/>
            <a:ext cx="44157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4987230" y="3543300"/>
            <a:ext cx="38564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8843664" y="3543300"/>
            <a:ext cx="27768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71500" y="4124325"/>
            <a:ext cx="44157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987230" y="4124325"/>
            <a:ext cx="38564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8843664" y="4124325"/>
            <a:ext cx="27768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71500" y="4705350"/>
            <a:ext cx="44157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4987230" y="4705350"/>
            <a:ext cx="38564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8843664" y="4705350"/>
            <a:ext cx="27768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5" name="Google Shape;20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95651" y="3767137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81764" y="434816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2864" y="3186112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2885" y="3186112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1764" y="3767137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81764" y="434816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800100" y="571500"/>
            <a:ext cx="97612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Attrition by Departmental Units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47887"/>
            <a:ext cx="5286375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47887"/>
            <a:ext cx="5286375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571500" y="52149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Managerial and Director-level roles remain exceptionally stable across all bands.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914400" y="3148012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Technical Roles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914400" y="3824287"/>
            <a:ext cx="46005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Laboratory Technicians and Research Scientists show high churn in early tenure.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677025" y="3148012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Customer Facing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677025" y="3824287"/>
            <a:ext cx="46005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Sales Executives and Representatives face high pressure leading to overtime exits.</a:t>
            </a:r>
            <a:endParaRPr/>
          </a:p>
        </p:txBody>
      </p:sp>
      <p:pic>
        <p:nvPicPr>
          <p:cNvPr descr="image.png" id="225" name="Google Shape;22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52888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52888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800100" y="571500"/>
            <a:ext cx="97612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Role-Specific Vulnerability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1000125" y="2824162"/>
            <a:ext cx="4857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Mitigate Overtime Burden: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Audit high-churn roles for excessive workload; consider head-count adjustments to reduce stress.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1000125" y="3919537"/>
            <a:ext cx="4857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Cost-Retention Balance: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Use a portion of the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$34.5M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lost to adjust low-income compensation for high performers.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762750" y="2824162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Early-Stage Engagement: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Enhanced mentoring and integration for employees in their first 24 months.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762750" y="3633787"/>
            <a:ext cx="4857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Commute Flexibility: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Remote or hybrid options for long-distance commuters to lower commute-related churn.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800100" y="571500"/>
            <a:ext cx="97612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Strategic Recommendations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0" name="Google Shape;24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41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195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8241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63378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