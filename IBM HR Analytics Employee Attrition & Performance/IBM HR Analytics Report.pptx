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25D889-44CC-40BF-97B9-3AEDCB3294FF}">
  <a:tblStyle styleId="{4C25D889-44CC-40BF-97B9-3AEDCB3294F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716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IBM HR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9568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Employee Attrition &amp; Performance Deep Dive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252912"/>
            <a:ext cx="952500" cy="381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481512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INSIGHTS FOR STRATEGIC LEADERSHIP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71625"/>
            <a:ext cx="5286375" cy="531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33179"/>
            <a:ext cx="5286375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571625"/>
            <a:ext cx="528637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Our analysis of the IBM HR dataset reveals critical vulnerabilities in the </a:t>
            </a:r>
            <a:r>
              <a:rPr b="1" i="0" lang="en-US" sz="165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0-2 year tenure band</a:t>
            </a:r>
            <a:r>
              <a:rPr b="0" i="0" lang="en-US" sz="165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and among </a:t>
            </a:r>
            <a:r>
              <a:rPr b="1" i="0" lang="en-US" sz="165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overtime-heavy roles</a:t>
            </a:r>
            <a:r>
              <a:rPr b="0" i="0" lang="en-US" sz="165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. Attrition is significantly front-loaded and heavily influenced by compensation progression and commute distance.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581150"/>
            <a:ext cx="5267325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3828454"/>
            <a:ext cx="46958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Primary Objective:</a:t>
            </a: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Identify high-risk segments and deploy targeted retention interventions to safeguard organizational stability and reduce attrition costs.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4162"/>
            <a:ext cx="26193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824162"/>
            <a:ext cx="26193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824162"/>
            <a:ext cx="26193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2824162"/>
            <a:ext cx="2619375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4662487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"Attrition is 5x more likely among new hires than those with 10+ years of tenure."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66775" y="3119437"/>
            <a:ext cx="20288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29.82%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47737" y="3729037"/>
            <a:ext cx="186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EARLY-TENURE ATTRITION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676650" y="3119437"/>
            <a:ext cx="20288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50.63%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833812" y="3729037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LOW HIKE IMPACT RATE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86525" y="3119437"/>
            <a:ext cx="20288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5.2y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24675" y="3729037"/>
            <a:ext cx="1152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AVG STAY (LEFT)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296400" y="3119437"/>
            <a:ext cx="20288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7.4y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634537" y="3729037"/>
            <a:ext cx="1352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AVG STAY (ACTIVE)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PERFORMANCE METRICS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14887"/>
            <a:ext cx="11049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5005387"/>
            <a:ext cx="10668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Insight: The 'Honeymoon' period is critical. Attrition rates plummet by 73% once an employee crosses the 10-year threshold.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TENURE VULNERABILITY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3517"/>
            <a:ext cx="5286375" cy="3010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23517"/>
            <a:ext cx="5286375" cy="3010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433042"/>
            <a:ext cx="5267325" cy="299189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334125" y="242351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3x Higher Exit Risk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334125" y="2699742"/>
            <a:ext cx="528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Employees working overtime are significantly more likely to leave the organization compared to their peers.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334125" y="4538067"/>
            <a:ext cx="5286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*Total sample: 416 Overtime workers vs 1054 non-Overtime workers.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OVERTIME FACTOR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2986087"/>
            <a:ext cx="18859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50" y="2109787"/>
            <a:ext cx="7143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6750" y="3386137"/>
            <a:ext cx="7143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50" y="4662487"/>
            <a:ext cx="714375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4819650" y="2405062"/>
            <a:ext cx="68308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Long (&gt;15 mi): 20.67% Attrition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819650" y="3681412"/>
            <a:ext cx="68308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Mid (7-15 mi): 17.49% Attrition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819650" y="4957762"/>
            <a:ext cx="68308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Short (&lt;7 mi): 13.55% Attrition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COMMUTE &amp; PROXIMITY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762000" y="1328737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INCOME SENSITIVITY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71500" y="1328737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2328862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81%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3471862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Concentrated in Low-Income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4129087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Attrition is overwhelmingly clustered among lower earning employees. This reinforces compensation competitiveness as the most critical pillar for retention.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8362"/>
            <a:ext cx="52863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38362"/>
            <a:ext cx="52863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48112"/>
            <a:ext cx="5286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2147887"/>
            <a:ext cx="5267325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866775" y="4243387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The R&amp;D Crisis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66775" y="4738687"/>
            <a:ext cx="46958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Despite Research &amp; Development having a moderate headcount attrition rate (13.84%), its scale makes it the source of over half of all exits.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DEPARTMENTAL VULNERABILITIES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9800"/>
            <a:ext cx="1104900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5324475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*Highlighted percentages indicate peak attrition bands for high-churn roles.</a:t>
            </a:r>
            <a:endParaRPr/>
          </a:p>
        </p:txBody>
      </p:sp>
      <p:graphicFrame>
        <p:nvGraphicFramePr>
          <p:cNvPr id="191" name="Google Shape;191;p21"/>
          <p:cNvGraphicFramePr/>
          <p:nvPr/>
        </p:nvGraphicFramePr>
        <p:xfrm>
          <a:off x="581025" y="2219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{4C25D889-44CC-40BF-97B9-3AEDCB3294FF}</a:tableStyleId>
              </a:tblPr>
              <a:tblGrid>
                <a:gridCol w="3633775"/>
                <a:gridCol w="1798450"/>
                <a:gridCol w="1798450"/>
                <a:gridCol w="1945325"/>
                <a:gridCol w="1853950"/>
              </a:tblGrid>
              <a:tr h="41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Job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0-2 Years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3-5 Years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6-10 Years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10+ Years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1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Laboratory Technician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14.77%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4.64%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6.33%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0.42%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Sales Executive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6.33%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3.38%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10.13%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4.22%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1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Research Scientist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8.44%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8.44%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0.42%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Sales Representative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8.86%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3.80%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1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Human Resources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0.42%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 / Director Roles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2.5%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21"/>
          <p:cNvSpPr/>
          <p:nvPr/>
        </p:nvSpPr>
        <p:spPr>
          <a:xfrm>
            <a:off x="581025" y="3062287"/>
            <a:ext cx="3633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214812" y="3062287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013251" y="3062287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7811690" y="3062287"/>
            <a:ext cx="1945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9757023" y="3062287"/>
            <a:ext cx="18539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81025" y="3471862"/>
            <a:ext cx="3633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214812" y="3471862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013251" y="3471862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811690" y="3471862"/>
            <a:ext cx="1945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9757023" y="3471862"/>
            <a:ext cx="18539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81025" y="3881437"/>
            <a:ext cx="3633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214812" y="3881437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013251" y="3881437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811690" y="3881437"/>
            <a:ext cx="1945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9757023" y="3881437"/>
            <a:ext cx="18539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81025" y="4291012"/>
            <a:ext cx="3633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214812" y="4291012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013251" y="4291012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811690" y="4291012"/>
            <a:ext cx="1945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9757023" y="4291012"/>
            <a:ext cx="18539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81025" y="4700587"/>
            <a:ext cx="3633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214812" y="4700587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013251" y="4700587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811690" y="4700587"/>
            <a:ext cx="1945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9757023" y="4700587"/>
            <a:ext cx="18539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81025" y="5110162"/>
            <a:ext cx="36337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214812" y="5110162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6013251" y="5110162"/>
            <a:ext cx="17984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7811690" y="5110162"/>
            <a:ext cx="1945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9757023" y="5110162"/>
            <a:ext cx="18539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JOB ROLE RISK MATRIX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952500" y="2862262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Overtime Audit: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Re-evaluate staffing levels in R&amp;D and Sales. Mitigating the 30% OT attrition risk is the most immediate cost-saving lever.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952500" y="3509962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Honeymoon Engagement: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Implement specialized '90-day checkpoints' and mentorship for employees in the 0-2 year bracket.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952500" y="3929062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Compensation Calibration: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Review salary benchmarks for low-income brackets. Closing pay gaps is essential for the 81% attrition segment.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52500" y="4576762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Commute Flexibility: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Introduce hybrid-work or commute-support for employees residing &gt;15 miles from the workplace.</a:t>
            </a:r>
            <a:endParaRPr/>
          </a:p>
        </p:txBody>
      </p:sp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0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8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67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148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RETENTION ROAD MAP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295275" y="2071687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311943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Empowering HR Decisions through Analytics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4157662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IBM HR Analytics Dashboard Report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71500" y="4481512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Contact: HR.Analytics.Team@corporate.com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/>
          <p:nvPr/>
        </p:nvSpPr>
        <p:spPr>
          <a:xfrm>
            <a:off x="571500" y="23050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71500" y="3076575"/>
            <a:ext cx="11049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71500" y="3905250"/>
            <a:ext cx="11049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71500" y="3067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71500" y="3067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71500" y="3895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71500" y="3895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7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1666875" y="2495550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https://images.splitshire.com/full/The-Office-Building-Glowing-Blue-at-Night_BMndD.png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1666875" y="2695575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www.splitshire.com</a:t>
            </a:r>
            <a:endParaRPr/>
          </a:p>
        </p:txBody>
      </p:sp>
      <p:pic>
        <p:nvPicPr>
          <p:cNvPr descr="image.png" id="265" name="Google Shape;2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48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1666875" y="3219450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https://static.vecteezy.com/system/resources/thumbnails/047/561/041/small_2x/stressed-and-tired-asian-woman-office-worker-working-at-her-desk-in-the-dark-office-at-night-asian-business-woman-working-overtime-in-lamplight-free-video.jpg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1666875" y="3571875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68" name="Google Shape;26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76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1666875" y="4048125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https://media.istockphoto.com/id/1437979369/photo/drone-shot-of-traffic-during-golden-hour-in-los-angeles-california.jpg?s=612x612&amp;w=is&amp;k=20&amp;c=RU-Wljzag5jqziLZR9zNUMZ82qU4nm4sdVYMFX81r0o=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1666875" y="4400550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271" name="Google Shape;27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053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1666875" y="4876800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ttps://d3njjcbhbojbot.cloudfront.net/api/utilities/v1/imageproxy/https://images.ctfassets.net/wp1lcwdav1p1/1gW7NrZHtfRAYdoIt0x5lC/c7bd22d7ac238c960d3f7b0dfeec4dce/GettyImages-1171660718.jpg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1666875" y="5229225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www.coursera.org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