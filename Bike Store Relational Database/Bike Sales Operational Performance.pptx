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Lexend SemiBold" panose="020B0604020202020204" charset="0"/>
      <p:regular r:id="rId19"/>
      <p:bold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Lexend" panose="020B060402020202020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67485F-4785-448F-A795-592349C39364}">
  <a:tblStyle styleId="{1E67485F-4785-448F-A795-592349C393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380535" y="2098923"/>
            <a:ext cx="7430928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Bike Sales Operational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 Performance Analysis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3916114"/>
            <a:ext cx="762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239964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Operational Performance Dashboard: Delay Analysis, Sales Insights &amp; Strategic Recommendations for Executive Leadership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43462" y="5249614"/>
            <a:ext cx="25050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Presented by Soumallya Roy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512" y="422523"/>
            <a:ext cx="2486025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965733" y="2424112"/>
            <a:ext cx="426053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EXECUTIVE SUMMARY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809750" y="3233737"/>
            <a:ext cx="85725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Significant operational pressure has led to a critical spike in delivery delays, primarily concentrated in high-revenue states and top-tier brands.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7912"/>
            <a:ext cx="3530649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0749" y="2347912"/>
            <a:ext cx="3530649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9999" y="2347912"/>
            <a:ext cx="3530649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62025" y="3414712"/>
            <a:ext cx="288707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Delay Surge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3843337"/>
            <a:ext cx="2749599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Overall delay rate increased from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17.14%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41.18%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the current month.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721274" y="3414712"/>
            <a:ext cx="288707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Order Impact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21274" y="3843337"/>
            <a:ext cx="2749599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28 out of 68 orders delayed last month, signalling a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24% increase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operational load.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80524" y="3414712"/>
            <a:ext cx="288707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Customer Risk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480524" y="3843337"/>
            <a:ext cx="2749599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Increased delays are directly impacting sales conversion and long-term customer satisfaction.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77653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21274" y="2776537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0524" y="2776537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KEY OPERATIONAL METRICS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821781"/>
            <a:ext cx="523875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3167062"/>
            <a:ext cx="29337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EF4444"/>
                </a:solidFill>
                <a:latin typeface="Lexend"/>
                <a:ea typeface="Lexend"/>
                <a:cs typeface="Lexend"/>
                <a:sym typeface="Lexend"/>
              </a:rPr>
              <a:t>41%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72275" y="3212306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Status: CRITICAL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72275" y="3640931"/>
            <a:ext cx="44577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Operational pressure has reached a tipping point. Structural bottlenecks are preventing timely fulfillment for nearly half of all incoming orders.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3886200" y="3286125"/>
            <a:ext cx="19240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Delay Rate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886200" y="3838575"/>
            <a:ext cx="19240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Critical threshold exceeded.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DELIVERY PERFORMANCE STATUS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81125"/>
            <a:ext cx="1104900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71500" y="4457700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Note: CA and NY are likely impacted by supply chain congestion, warehouse workload, or transport vendor delays. TX remains comparatively stable.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INSIGHTS BY GEOGRAPHIC ZONE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1756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71500" y="3069431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Revenue Leader Under Pressure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3498056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Trek drives the highest revenue (</a:t>
            </a: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$3.2M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but faces a significant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31.54% delay rate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71500" y="4231481"/>
            <a:ext cx="52387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Top sellers (Domane SLR series) show 36–37% delays, indicating systemic fulfillment issues rather than SKU-specific problems.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BRAND PERFORMANCE - TREK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647950"/>
            <a:ext cx="5695950" cy="2562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19"/>
          <p:cNvGraphicFramePr/>
          <p:nvPr/>
        </p:nvGraphicFramePr>
        <p:xfrm>
          <a:off x="571500" y="2452687"/>
          <a:ext cx="11049000" cy="2762250"/>
        </p:xfrm>
        <a:graphic>
          <a:graphicData uri="http://schemas.openxmlformats.org/drawingml/2006/table">
            <a:tbl>
              <a:tblPr firstRow="1" bandRow="1">
                <a:noFill/>
                <a:tableStyleId>{1E67485F-4785-448F-A795-592349C39364}</a:tableStyleId>
              </a:tblPr>
              <a:tblGrid>
                <a:gridCol w="37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1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891B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Product Family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891B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891B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Delay 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891B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Risk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Electra Townie (Series)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Electra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51.11%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F4444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 / Structural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Trek Domane SLR 6 Disc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Trek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37.04%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9E0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Medium / Bottleneck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Surly Karate Monkey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36.00%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9E0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Medium / Systemic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Trek Emonda S 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Trek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37.04%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9E0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Medium / Supply Chain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" name="Google Shape;153;p19"/>
          <p:cNvSpPr/>
          <p:nvPr/>
        </p:nvSpPr>
        <p:spPr>
          <a:xfrm>
            <a:off x="571500" y="3014662"/>
            <a:ext cx="377681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348311" y="3014662"/>
            <a:ext cx="152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872311" y="3014662"/>
            <a:ext cx="213687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8009185" y="3014662"/>
            <a:ext cx="361131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71500" y="3571875"/>
            <a:ext cx="377681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4348311" y="3571875"/>
            <a:ext cx="1524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872311" y="3571875"/>
            <a:ext cx="21368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8009185" y="3571875"/>
            <a:ext cx="36113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71500" y="4114800"/>
            <a:ext cx="377681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4348311" y="4114800"/>
            <a:ext cx="1524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872311" y="4114800"/>
            <a:ext cx="21368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8009185" y="4114800"/>
            <a:ext cx="36113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71500" y="4657725"/>
            <a:ext cx="377681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4348311" y="4657725"/>
            <a:ext cx="1524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872311" y="4657725"/>
            <a:ext cx="21368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8009185" y="4657725"/>
            <a:ext cx="36113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71500" y="5200650"/>
            <a:ext cx="377681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348311" y="5200650"/>
            <a:ext cx="1524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872311" y="5200650"/>
            <a:ext cx="21368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8009185" y="5200650"/>
            <a:ext cx="36113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TOP HIGH-RISK PRODUCT SKUS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216693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2695575" y="3690937"/>
            <a:ext cx="990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exend"/>
                <a:ea typeface="Lexend"/>
                <a:cs typeface="Lexend"/>
                <a:sym typeface="Lexend"/>
              </a:rPr>
              <a:t>Revenue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810375" y="2909887"/>
            <a:ext cx="48101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Road Bikes: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$1.5M Rev | 32.1% Delay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810375" y="3371850"/>
            <a:ext cx="48101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Mountain Bikes: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$1.5M Rev | 32.6% Delay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810375" y="3833812"/>
            <a:ext cx="48101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Cruisers: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Moderate Rev | 31.3% Delay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810375" y="4295775"/>
            <a:ext cx="48101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Electric Bikes: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Growth Vol | 28.7% Delay</a:t>
            </a:r>
            <a:endParaRPr/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9432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4051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867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3291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REVENUE PROPORTIONS VS. DELAYS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571500"/>
            <a:ext cx="5200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SUPPLY CHAIN STRESS</a:t>
            </a:r>
            <a:endParaRPr/>
          </a:p>
        </p:txBody>
      </p:sp>
      <p:pic>
        <p:nvPicPr>
          <p:cNvPr id="196" name="Google Shape;19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24112"/>
            <a:ext cx="4953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71500" y="2995612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Infrastructure Constraints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3424237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Operational inefficiencies are concentrated on a small number of high-demand items rather than across all inventory.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4429125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Warehouse workload and carrier allocation in CA and NY hubs have reached maximum capacity, leading to the 40%+ delay spike.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1000125" y="2909887"/>
            <a:ext cx="10620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Prioritize High-Revenue SKUs: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Fast-track fulfillment for Trek and Electra top-sellers through dedicated picking lanes.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000125" y="3371850"/>
            <a:ext cx="10620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Warehouse Reallocation: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Shift buffer stock to CA and NY regional hubs to reduce last-mile timing risk.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000125" y="3833812"/>
            <a:ext cx="10620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Carrier Optimization: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Review and renegotiate SLAs with alternative delivery partners in high-delay regions.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000125" y="4295775"/>
            <a:ext cx="10620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Planning: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 real-time stock planning to anticipate spikes in Comfort and Road bike order cycles.</a:t>
            </a:r>
            <a:endParaRPr/>
          </a:p>
        </p:txBody>
      </p:sp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432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051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671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291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OPERATIONAL INTERVENTIONS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y You Need Both: Product Roadmaps and Product Release Plans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7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2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0" name="Google Shape;230;p23"/>
          <p:cNvSpPr txBox="1"/>
          <p:nvPr/>
        </p:nvSpPr>
        <p:spPr>
          <a:xfrm>
            <a:off x="571500" y="1364456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0891B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EXECUTION ROADMAP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274198" y="3061665"/>
            <a:ext cx="11624553" cy="2733472"/>
          </a:xfrm>
          <a:prstGeom prst="rect">
            <a:avLst/>
          </a:prstGeom>
          <a:solidFill>
            <a:schemeClr val="accent1">
              <a:lumMod val="20000"/>
              <a:lumOff val="8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Google Shape;220;p23"/>
          <p:cNvSpPr/>
          <p:nvPr/>
        </p:nvSpPr>
        <p:spPr>
          <a:xfrm>
            <a:off x="571500" y="401478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21;p23"/>
          <p:cNvSpPr/>
          <p:nvPr/>
        </p:nvSpPr>
        <p:spPr>
          <a:xfrm>
            <a:off x="2162175" y="4148137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22;p23"/>
          <p:cNvSpPr txBox="1"/>
          <p:nvPr/>
        </p:nvSpPr>
        <p:spPr>
          <a:xfrm>
            <a:off x="571500" y="3593306"/>
            <a:ext cx="34804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Immediate (Week 1-2)</a:t>
            </a:r>
            <a:endParaRPr dirty="0"/>
          </a:p>
        </p:txBody>
      </p:sp>
      <p:sp>
        <p:nvSpPr>
          <p:cNvPr id="29" name="Google Shape;223;p23"/>
          <p:cNvSpPr txBox="1"/>
          <p:nvPr/>
        </p:nvSpPr>
        <p:spPr>
          <a:xfrm>
            <a:off x="571500" y="4428401"/>
            <a:ext cx="33147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Fulfillment lane prioritization for high-value brands (Trek/Electra) and CA regional audit.</a:t>
            </a:r>
            <a:endParaRPr dirty="0"/>
          </a:p>
        </p:txBody>
      </p:sp>
      <p:sp>
        <p:nvSpPr>
          <p:cNvPr id="30" name="Google Shape;224;p23"/>
          <p:cNvSpPr/>
          <p:nvPr/>
        </p:nvSpPr>
        <p:spPr>
          <a:xfrm>
            <a:off x="6029325" y="4148137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225;p23"/>
          <p:cNvSpPr txBox="1"/>
          <p:nvPr/>
        </p:nvSpPr>
        <p:spPr>
          <a:xfrm>
            <a:off x="4438650" y="3593306"/>
            <a:ext cx="34804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Short-Term (Month 1)</a:t>
            </a:r>
            <a:endParaRPr dirty="0"/>
          </a:p>
        </p:txBody>
      </p:sp>
      <p:sp>
        <p:nvSpPr>
          <p:cNvPr id="32" name="Google Shape;226;p23"/>
          <p:cNvSpPr txBox="1"/>
          <p:nvPr/>
        </p:nvSpPr>
        <p:spPr>
          <a:xfrm>
            <a:off x="4521517" y="4428402"/>
            <a:ext cx="33147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Onboarding alternative logistics partners and implementing regional buffer stock strategies.</a:t>
            </a:r>
            <a:endParaRPr dirty="0"/>
          </a:p>
        </p:txBody>
      </p:sp>
      <p:sp>
        <p:nvSpPr>
          <p:cNvPr id="33" name="Google Shape;227;p23"/>
          <p:cNvSpPr/>
          <p:nvPr/>
        </p:nvSpPr>
        <p:spPr>
          <a:xfrm>
            <a:off x="9896475" y="4148137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228;p23"/>
          <p:cNvSpPr txBox="1"/>
          <p:nvPr/>
        </p:nvSpPr>
        <p:spPr>
          <a:xfrm>
            <a:off x="8305800" y="3593306"/>
            <a:ext cx="34804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Mid-Term (Quarter 2)</a:t>
            </a:r>
            <a:endParaRPr dirty="0"/>
          </a:p>
        </p:txBody>
      </p:sp>
      <p:sp>
        <p:nvSpPr>
          <p:cNvPr id="35" name="Google Shape;229;p23"/>
          <p:cNvSpPr txBox="1"/>
          <p:nvPr/>
        </p:nvSpPr>
        <p:spPr>
          <a:xfrm>
            <a:off x="8356758" y="4428402"/>
            <a:ext cx="33147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 integration of dynamic stock planning tool to maintain delay rates below 15%.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0" y="4359473"/>
            <a:ext cx="3810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19750" y="166017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3590686" y="2707927"/>
            <a:ext cx="5010626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Any Questions?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3305175" y="3568898"/>
            <a:ext cx="5581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Operational Performance Dashboard &amp; Strategic Analysis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4191000" y="4654748"/>
            <a:ext cx="3810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Soumallya Roy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4191000" y="4926210"/>
            <a:ext cx="3810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Operational Performance Lead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493</Words>
  <Application>Microsoft Office PowerPoint</Application>
  <PresentationFormat>Widescreen</PresentationFormat>
  <Paragraphs>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Inter</vt:lpstr>
      <vt:lpstr>Lexend SemiBold</vt:lpstr>
      <vt:lpstr>Arial</vt:lpstr>
      <vt:lpstr>Inter SemiBold</vt:lpstr>
      <vt:lpstr>Lexend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Soumallya Roy</cp:lastModifiedBy>
  <cp:revision>9</cp:revision>
  <dcterms:modified xsi:type="dcterms:W3CDTF">2026-01-15T15:09:44Z</dcterms:modified>
</cp:coreProperties>
</file>